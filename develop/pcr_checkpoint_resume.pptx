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handoutMasterIdLst>
    <p:handoutMasterId r:id="rId14"/>
  </p:handout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handoutMaster" Target="handoutMasters/handoutMaster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9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291346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9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291346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768096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PCR 断点续传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2011680"/>
            <a:ext cx="76809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CCFBF1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从 14 倍冗余到精准增量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2697480"/>
            <a:ext cx="1371600" cy="54864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5" name="Text 3"/>
          <p:cNvSpPr/>
          <p:nvPr/>
        </p:nvSpPr>
        <p:spPr>
          <a:xfrm>
            <a:off x="731520" y="3017520"/>
            <a:ext cx="76809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TiKV Physical Cluster Replication 开发历程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E293B"/>
          </a:solidFill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问题场景：暂停备份 → 源端继续写 → 恢复备份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8046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CFBF1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PCR Checkpoint &amp; Resume 的需求由来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1463040"/>
          </a:xfrm>
          <a:prstGeom prst="rect">
            <a:avLst/>
          </a:prstGeom>
          <a:solidFill>
            <a:srgbClr val="CCFBF1"/>
          </a:solidFill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463040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📥  BT 下载类比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1828800"/>
            <a:ext cx="768096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BT 下载到 80% 暂停 → 其他节点又发布了新分块 → 恢复下载时只需下载新增的 20%+ 分块，</a:t>
            </a:r>
            <a:endParaRPr lang="en-US" sz="13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不能把整个文件重下一遍 —— 那就是断点续传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108960"/>
            <a:ext cx="2606040" cy="1554480"/>
          </a:xfrm>
          <a:prstGeom prst="rect">
            <a:avLst/>
          </a:prstGeom>
          <a:solidFill>
            <a:srgbClr val="FFFFFF"/>
          </a:solidFill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" y="324612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⏸️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051560" y="324612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暂停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85800" y="3611880"/>
            <a:ext cx="2148840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BT 下载暂停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源端写入持续进行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91840" y="3108960"/>
            <a:ext cx="2606040" cy="1554480"/>
          </a:xfrm>
          <a:prstGeom prst="rect">
            <a:avLst/>
          </a:prstGeom>
          <a:solidFill>
            <a:srgbClr val="FFFFFF"/>
          </a:solidFill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474720" y="324612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📝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886200" y="324612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记录断点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520440" y="3611880"/>
            <a:ext cx="2148840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记下暂停时的 BitTorrent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piece 编号 / timestamp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26480" y="3108960"/>
            <a:ext cx="2606040" cy="1554480"/>
          </a:xfrm>
          <a:prstGeom prst="rect">
            <a:avLst/>
          </a:prstGeom>
          <a:solidFill>
            <a:srgbClr val="FFFFFF"/>
          </a:solidFill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309360" y="324612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▶️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720840" y="324612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恢复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355080" y="3611880"/>
            <a:ext cx="2148840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只下载断点之后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新增的分块 / 增量数据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EA580C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核心需求：增量同步不能漏数据，不能重复传已有数据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E293B"/>
          </a:solidFill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第一代：全量重扫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8046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CFBF1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能工作，但效率极差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思路：恢复后扫描整个 Write CF，靠 commit_ts &gt; checkpoint_ts 过滤新旧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8229600" cy="1188720"/>
          </a:xfrm>
          <a:prstGeom prst="rect">
            <a:avLst/>
          </a:prstGeom>
          <a:solidFill>
            <a:srgbClr val="FEF3C7"/>
          </a:solidFill>
        </p:spPr>
      </p:sp>
      <p:sp>
        <p:nvSpPr>
          <p:cNvPr id="7" name="Text 5"/>
          <p:cNvSpPr/>
          <p:nvPr/>
        </p:nvSpPr>
        <p:spPr>
          <a:xfrm>
            <a:off x="731520" y="2011680"/>
            <a:ext cx="768096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1E293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BT 类比：</a:t>
            </a:r>
            <a:r>
              <a:rPr lang="en-US" sz="1300" dirty="0">
                <a:solidFill>
                  <a:srgbClr val="1E293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 恢复下载时不校验断点，而是把整个文件重新下载一遍——下载了 14GB，只有 1GB 是暂停期间新增的 → 浪费了 13GB 带宽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3383280"/>
            <a:ext cx="20116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D9488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66×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548640" y="3977640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冗余倍数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834640" y="3383280"/>
            <a:ext cx="20116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D9488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14:1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2834640" y="3977640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Bridge/Ingested 比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120640" y="3383280"/>
            <a:ext cx="20116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D9488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✅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5120640" y="3977640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数据完整性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223760" y="3383280"/>
            <a:ext cx="20116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D9488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❌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7223760" y="3977640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效率不可接受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EA580C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结论：数据正确但带宽浪费严重，需要 Per-Region 分片扫描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E293B"/>
          </a:solidFill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核心挑战：给工人划地盘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8046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CFBF1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Per-Region Bounded Scan 的尝试与挫折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931920" cy="1371600"/>
          </a:xfrm>
          <a:prstGeom prst="rect">
            <a:avLst/>
          </a:prstGeom>
          <a:solidFill>
            <a:srgbClr val="FFFFFF"/>
          </a:solidFill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50876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🗺️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51560" y="1508760"/>
            <a:ext cx="31546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66 个工人，每人只负责一段货架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1874520"/>
            <a:ext cx="347472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每个 TiKV Region 有自己的 key range [start, end)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RocksDB seek(from) 定位 → 扫描到 end 停止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371600"/>
            <a:ext cx="3931920" cy="1371600"/>
          </a:xfrm>
          <a:prstGeom prst="rect">
            <a:avLst/>
          </a:prstGeom>
          <a:solidFill>
            <a:srgbClr val="FFFFFF"/>
          </a:solidFill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937760" y="150876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🔑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349240" y="1508760"/>
            <a:ext cx="31546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门牌号是编码的！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983480" y="1874520"/>
            <a:ext cx="347472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PD 返回的 key 是 memcomparable 编码格式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我们不知道它是编码的，又 encode 了一遍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→ 相当于给 GPS 又加了层偏移 → 定位全错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017520"/>
            <a:ext cx="8229600" cy="640080"/>
          </a:xfrm>
          <a:prstGeom prst="rect">
            <a:avLst/>
          </a:prstGeom>
          <a:solidFill>
            <a:srgbClr val="1E293B"/>
          </a:solidFill>
        </p:spPr>
      </p:sp>
      <p:sp>
        <p:nvSpPr>
          <p:cNvPr id="14" name="Text 12"/>
          <p:cNvSpPr/>
          <p:nvPr/>
        </p:nvSpPr>
        <p:spPr>
          <a:xfrm>
            <a:off x="731520" y="3063240"/>
            <a:ext cx="76809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opperplate" panose="02000504000000020004" charset="0"/>
                <a:ea typeface="Copperplate" panose="02000504000000020004" charset="0"/>
                <a:cs typeface="Copperplate" panose="02000504000000020004" charset="0"/>
              </a:rPr>
              <a:t>原始 key → encode_bytes() → PD 边界 → Key::from_raw() → encode_bytes() AGAIN → 错位！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384048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尝试了 4 种编码方案：raw key、MAX_TS、zero_TS、IterOptions bounds — 全部失败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原因只有一个：把已经编码的门牌号又编了一遍码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E293B"/>
          </a:solidFill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转折：一句话点醒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8046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CFBF1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外部视角打破思维定势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914400" y="1463040"/>
            <a:ext cx="7315200" cy="2011680"/>
          </a:xfrm>
          <a:prstGeom prst="rect">
            <a:avLst/>
          </a:prstGeom>
          <a:solidFill>
            <a:srgbClr val="CCFBF1"/>
          </a:solidFill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188720" y="1554480"/>
            <a:ext cx="6766560" cy="1828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4800" dirty="0">
                <a:solidFill>
                  <a:srgbClr val="0D9488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"</a:t>
            </a:r>
            <a:r>
              <a:rPr lang="en-US" sz="1600" dirty="0">
                <a:solidFill>
                  <a:srgbClr val="1E293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TiKV 里有三种 key，不能混：</a:t>
            </a:r>
            <a:endParaRPr lang="en-US" sz="48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raw key、encoded key、MVCC key</a:t>
            </a:r>
            <a:endParaRPr lang="en-US" sz="4800" dirty="0"/>
          </a:p>
          <a:p>
            <a:pPr marL="0" indent="0">
              <a:lnSpc>
                <a:spcPct val="140000"/>
              </a:lnSpc>
              <a:buNone/>
            </a:pPr>
            <a:endParaRPr lang="en-US" sz="48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你现在把 encoded key 当 raw key</a:t>
            </a:r>
            <a:endParaRPr lang="en-US" sz="48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又 encode 了一次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457200" y="374904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5966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修复：去掉 Key::from_raw()，直接用 PD 返回的编码 key + 时间戳后缀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4297680"/>
            <a:ext cx="3931920" cy="640080"/>
          </a:xfrm>
          <a:prstGeom prst="rect">
            <a:avLst/>
          </a:prstGeom>
          <a:solidFill>
            <a:srgbClr val="FFFFFF"/>
          </a:solidFill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" y="443484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✅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051560" y="4434840"/>
            <a:ext cx="31546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lower_bound = PD key + [0x00;8]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85800" y="4800600"/>
            <a:ext cx="3474720" cy="45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不经过 Key::from_raw() → 不再双编码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54880" y="4297680"/>
            <a:ext cx="3931920" cy="640080"/>
          </a:xfrm>
          <a:prstGeom prst="rect">
            <a:avLst/>
          </a:prstGeom>
          <a:solidFill>
            <a:srgbClr val="FFFFFF"/>
          </a:solidFill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937760" y="443484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✅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349240" y="4434840"/>
            <a:ext cx="31546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seek(lower_bound) 成功定位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983480" y="4800600"/>
            <a:ext cx="3474720" cy="45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所有 66 个 Region 的 iterator 全部 valid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E293B"/>
          </a:solidFill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第二个坑：围墙修得太高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8046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CFBF1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RocksDB upper_bound 的兼容性问题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1188720"/>
          </a:xfrm>
          <a:prstGeom prst="rect">
            <a:avLst/>
          </a:prstGeom>
          <a:solidFill>
            <a:srgbClr val="FFFFFF"/>
          </a:solidFill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50876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🧱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51560" y="1508760"/>
            <a:ext cx="74523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RocksDB upper_bound 与写 CF 的 custom comparator 不兼容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1874520"/>
            <a:ext cx="77724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设置了 upper_bound 后，所有 65 个 bounded Region 的 iterator 一步都走不动——raw_total=0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但 Region 2（不设 upper_bound）工作正常 → 问题锁定：upper_bound 把工人挡在了起点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834640"/>
            <a:ext cx="8229600" cy="1188720"/>
          </a:xfrm>
          <a:prstGeom prst="rect">
            <a:avLst/>
          </a:prstGeom>
          <a:solidFill>
            <a:srgbClr val="FFFFFF"/>
          </a:solidFill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0080" y="297180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🔧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051560" y="2971800"/>
            <a:ext cx="74523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解决方案：拆掉围墙，工人自己判断终点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85800" y="3337560"/>
            <a:ext cx="77724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放弃 RocksDB iterate_upper_bound → 在代码里用 truncate_ts_for(user_key) &gt;= to 判断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user_key 和 to 都是 memcomparable 编码 → 在同一空间比较 → 逻辑正确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429768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教训：</a:t>
            </a:r>
            <a:r>
              <a:rPr lang="en-US" sz="120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底层基础设施的行为（RocksDB comparator）需要实测验证，不能依赖文档假设。TiCDC 之所以不受影响，是因为它通过 gRPC 间接操作 TiKV，不直接调 RocksDB API。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E293B"/>
          </a:solidFill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最终方案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8046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CFBF1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一个既精准又高效的增量同步机制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960120" y="1463040"/>
            <a:ext cx="640080" cy="640080"/>
          </a:xfrm>
          <a:prstGeom prst="ellipse">
            <a:avLst/>
          </a:prstGeom>
          <a:solidFill>
            <a:srgbClr val="0D9488"/>
          </a:solidFill>
        </p:spPr>
      </p:sp>
      <p:sp>
        <p:nvSpPr>
          <p:cNvPr id="6" name="Text 4"/>
          <p:cNvSpPr/>
          <p:nvPr/>
        </p:nvSpPr>
        <p:spPr>
          <a:xfrm>
            <a:off x="960120" y="146304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65760" y="224028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门牌号直接用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2514600"/>
            <a:ext cx="18288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PD key 就是 encoded key</a:t>
            </a:r>
            <a:endParaRPr lang="en-US" sz="11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不做二次编码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154680" y="1463040"/>
            <a:ext cx="640080" cy="640080"/>
          </a:xfrm>
          <a:prstGeom prst="ellipse">
            <a:avLst/>
          </a:prstGeom>
          <a:solidFill>
            <a:srgbClr val="0D9488"/>
          </a:solidFill>
        </p:spPr>
      </p:sp>
      <p:sp>
        <p:nvSpPr>
          <p:cNvPr id="10" name="Text 8"/>
          <p:cNvSpPr/>
          <p:nvPr/>
        </p:nvSpPr>
        <p:spPr>
          <a:xfrm>
            <a:off x="3154680" y="146304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560320" y="224028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只修起点路标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560320" y="2514600"/>
            <a:ext cx="18288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lower_bound = PD key</a:t>
            </a:r>
            <a:endParaRPr lang="en-US" sz="11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+ MAX_TS 后缀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349240" y="1463040"/>
            <a:ext cx="640080" cy="640080"/>
          </a:xfrm>
          <a:prstGeom prst="ellipse">
            <a:avLst/>
          </a:prstGeom>
          <a:solidFill>
            <a:srgbClr val="0D9488"/>
          </a:solidFill>
        </p:spPr>
      </p:sp>
      <p:sp>
        <p:nvSpPr>
          <p:cNvPr id="14" name="Text 12"/>
          <p:cNvSpPr/>
          <p:nvPr/>
        </p:nvSpPr>
        <p:spPr>
          <a:xfrm>
            <a:off x="5349240" y="146304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754880" y="224028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000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不修终点围墙</a:t>
            </a:r>
            <a:endParaRPr lang="en-US" sz="1300" b="1" dirty="0">
              <a:solidFill>
                <a:srgbClr val="FF000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754880" y="2514600"/>
            <a:ext cx="18288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FF000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upper_bound 改用</a:t>
            </a:r>
            <a:endParaRPr lang="en-US" sz="1100" dirty="0">
              <a:solidFill>
                <a:srgbClr val="FF0000"/>
              </a:solidFill>
            </a:endParaRPr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FF000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代码级 to 检查</a:t>
            </a:r>
            <a:endParaRPr lang="en-US" sz="1100" dirty="0">
              <a:solidFill>
                <a:srgbClr val="FF000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7543800" y="1463040"/>
            <a:ext cx="640080" cy="640080"/>
          </a:xfrm>
          <a:prstGeom prst="ellipse">
            <a:avLst/>
          </a:prstGeom>
          <a:solidFill>
            <a:srgbClr val="0D9488"/>
          </a:solidFill>
        </p:spPr>
      </p:sp>
      <p:sp>
        <p:nvSpPr>
          <p:cNvPr id="18" name="Text 16"/>
          <p:cNvSpPr/>
          <p:nvPr/>
        </p:nvSpPr>
        <p:spPr>
          <a:xfrm>
            <a:off x="7543800" y="146304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4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949440" y="224028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66 人各扫各的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949440" y="2514600"/>
            <a:ext cx="18288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每个 Region 只扫</a:t>
            </a:r>
            <a:endParaRPr lang="en-US" sz="11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自己 key range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3383280"/>
            <a:ext cx="8229600" cy="1188720"/>
          </a:xfrm>
          <a:prstGeom prst="rect">
            <a:avLst/>
          </a:prstGeom>
          <a:solidFill>
            <a:srgbClr val="1E293B"/>
          </a:solidFill>
        </p:spPr>
      </p:sp>
      <p:sp>
        <p:nvSpPr>
          <p:cNvPr id="22" name="Text 20"/>
          <p:cNvSpPr/>
          <p:nvPr/>
        </p:nvSpPr>
        <p:spPr>
          <a:xfrm>
            <a:off x="731520" y="3474720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CFBF1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🏆  结果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31520" y="3840480"/>
            <a:ext cx="76809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增量 2 万条记录 → 只传输 2MB → 效率提升 200 倍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3 个 bounded Region 各自找到独立数据 → 66 个 Region 协同工作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5966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SST Errors: 0  |  数据完整性: 100%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E293B"/>
          </a:solidFill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方案演进一览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8046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CFBF1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8 套方案，4 天，3 种来源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/>
        </p:nvGraphicFramePr>
        <p:xfrm>
          <a:off x="274320" y="1371600"/>
          <a:ext cx="8595360" cy="2660904"/>
        </p:xfrm>
        <a:graphic>
          <a:graphicData uri="http://schemas.openxmlformats.org/drawingml/2006/table">
            <a:tbl>
              <a:tblPr/>
              <a:tblGrid>
                <a:gridCol w="365760"/>
                <a:gridCol w="4114800"/>
                <a:gridCol w="1371600"/>
                <a:gridCol w="2743200"/>
              </a:tblGrid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11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方案</a:t>
                      </a:r>
                      <a:endParaRPr lang="en-US" sz="11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来源</a:t>
                      </a:r>
                      <a:endParaRPr lang="en-US" sz="11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结果</a:t>
                      </a:r>
                      <a:endParaRPr lang="en-US" sz="11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CDC 增量流纯订阅</a:t>
                      </a:r>
                      <a:endParaRPr lang="en-US" sz="10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</a:rPr>
                        <a:t>自研</a:t>
                      </a:r>
                      <a:endParaRPr lang="en-US" sz="9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EA580C"/>
                          </a:solidFill>
                        </a:rPr>
                        <a:t>❌ pause 数据丢失</a:t>
                      </a:r>
                      <a:endParaRPr lang="en-US" sz="9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Write CF unbounded 全量扫描</a:t>
                      </a:r>
                      <a:endParaRPr lang="en-US" sz="10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</a:rPr>
                        <a:t>自研</a:t>
                      </a:r>
                      <a:endParaRPr lang="en-US" sz="9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59669"/>
                          </a:solidFill>
                        </a:rPr>
                        <a:t>✅ 数据正确 / 66× 冗余</a:t>
                      </a:r>
                      <a:endParaRPr lang="en-US" sz="9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seek(raw PD key)</a:t>
                      </a:r>
                      <a:endParaRPr lang="en-US" sz="10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</a:rPr>
                        <a:t>自研→被否</a:t>
                      </a:r>
                      <a:endParaRPr lang="en-US" sz="9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EA580C"/>
                          </a:solidFill>
                        </a:rPr>
                        <a:t>❌ iterator invalid</a:t>
                      </a:r>
                      <a:endParaRPr lang="en-US" sz="9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10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encode + MAX/zero TS seek</a:t>
                      </a:r>
                      <a:endParaRPr lang="en-US" sz="10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</a:rPr>
                        <a:t>自研→被否</a:t>
                      </a:r>
                      <a:endParaRPr lang="en-US" sz="9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EA580C"/>
                          </a:solidFill>
                        </a:rPr>
                        <a:t>❌ iterator invalid</a:t>
                      </a:r>
                      <a:endParaRPr lang="en-US" sz="9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10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IterOptions lower/upper bound</a:t>
                      </a:r>
                      <a:endParaRPr lang="en-US" sz="10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</a:rPr>
                        <a:t>自研→被否</a:t>
                      </a:r>
                      <a:endParaRPr lang="en-US" sz="9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EA580C"/>
                          </a:solidFill>
                        </a:rPr>
                        <a:t>❌ upper_bound 过滤全部</a:t>
                      </a:r>
                      <a:endParaRPr lang="en-US" sz="9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</a:t>
                      </a:r>
                      <a:endParaRPr lang="en-US" sz="10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参照 TiCDC 编码格式</a:t>
                      </a:r>
                      <a:endParaRPr lang="en-US" sz="10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D9488"/>
                          </a:solidFill>
                        </a:rPr>
                        <a:t>用户提示</a:t>
                      </a:r>
                      <a:endParaRPr lang="en-US" sz="9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EA580C"/>
                          </a:solidFill>
                        </a:rPr>
                        <a:t>❌ 仍有双编码</a:t>
                      </a:r>
                      <a:endParaRPr lang="en-US" sz="9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</a:t>
                      </a:r>
                      <a:endParaRPr lang="en-US" sz="10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去掉双编码 + upper_bound</a:t>
                      </a:r>
                      <a:endParaRPr lang="en-US" sz="10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D9488"/>
                          </a:solidFill>
                        </a:rPr>
                        <a:t>用户提示</a:t>
                      </a:r>
                      <a:endParaRPr lang="en-US" sz="9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59669"/>
                          </a:solidFill>
                        </a:rPr>
                        <a:t>✅ lower_bound work</a:t>
                      </a:r>
                      <a:endParaRPr lang="en-US" sz="9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</a:t>
                      </a:r>
                      <a:endParaRPr lang="en-US" sz="10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代码级 to 过滤（最终方案）</a:t>
                      </a:r>
                      <a:endParaRPr lang="en-US" sz="10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D9488"/>
                          </a:solidFill>
                        </a:rPr>
                        <a:t>用户+自研</a:t>
                      </a:r>
                      <a:endParaRPr lang="en-US" sz="9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59669"/>
                          </a:solidFill>
                        </a:rPr>
                        <a:t>✅ 多 Region 验证通过</a:t>
                      </a:r>
                      <a:endParaRPr lang="en-US" sz="9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274320" y="4800600"/>
            <a:ext cx="85953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来源分类：自研 / 用户否决后重做 / 用户提示（含 ChatGPT）后完善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关键数据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24688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14B8A6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21 万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2011680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CFBF1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全量同步 KVs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383280" y="1371600"/>
            <a:ext cx="24688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14B8A6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100%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3383280" y="2011680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CFBF1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增量数据完整性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217920" y="1371600"/>
            <a:ext cx="24688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14B8A6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14:1 → 2:1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6217920" y="2011680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CFBF1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Bridge/Ingested 比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2834640"/>
            <a:ext cx="24688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14B8A6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0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548640" y="3474720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CFBF1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SST 错误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83280" y="2834640"/>
            <a:ext cx="24688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14B8A6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4 天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3383280" y="3474720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CFBF1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开发周期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217920" y="2834640"/>
            <a:ext cx="24688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14B8A6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8 套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6217920" y="3474720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CFBF1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技术方案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828800" y="4617720"/>
            <a:ext cx="5486400" cy="36576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16" name="Text 14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投入产出比：4 天攻克分布式数据库增量同步核心难题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E293B"/>
          </a:solidFill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经验教训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8046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CFBF1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从这个项目中沉淀的方法论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548640" cy="548640"/>
          </a:xfrm>
          <a:prstGeom prst="ellipse">
            <a:avLst/>
          </a:prstGeom>
          <a:solidFill>
            <a:srgbClr val="0D9488"/>
          </a:solidFill>
        </p:spPr>
      </p:sp>
      <p:sp>
        <p:nvSpPr>
          <p:cNvPr id="6" name="Text 4"/>
          <p:cNvSpPr/>
          <p:nvPr/>
        </p:nvSpPr>
        <p:spPr>
          <a:xfrm>
            <a:off x="457200" y="146304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188720" y="1371600"/>
            <a:ext cx="74980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外部视角打破思维定势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88720" y="1737360"/>
            <a:ext cx="7498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ChatGPT 一句话点出「三种 key 不能混」——这是我们在 3 天内自己没发现的。关键时刻引入外部审视可以绕过认知盲区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651760"/>
            <a:ext cx="548640" cy="548640"/>
          </a:xfrm>
          <a:prstGeom prst="ellipse">
            <a:avLst/>
          </a:prstGeom>
          <a:solidFill>
            <a:srgbClr val="0D9488"/>
          </a:solidFill>
        </p:spPr>
      </p:sp>
      <p:sp>
        <p:nvSpPr>
          <p:cNvPr id="10" name="Text 8"/>
          <p:cNvSpPr/>
          <p:nvPr/>
        </p:nvSpPr>
        <p:spPr>
          <a:xfrm>
            <a:off x="457200" y="265176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🧪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188720" y="2560320"/>
            <a:ext cx="74980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底层行为必须实测验证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88720" y="2926080"/>
            <a:ext cx="7498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RocksDB 写 CF comparator 的 upper_bound 行为、PD key 的编码格式——都不能依赖文档假设，必须用 tikv-ctl + debug 日志直接验证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840480"/>
            <a:ext cx="548640" cy="548640"/>
          </a:xfrm>
          <a:prstGeom prst="ellipse">
            <a:avLst/>
          </a:prstGeom>
          <a:solidFill>
            <a:srgbClr val="0D9488"/>
          </a:solidFill>
        </p:spPr>
      </p:sp>
      <p:sp>
        <p:nvSpPr>
          <p:cNvPr id="14" name="Text 12"/>
          <p:cNvSpPr/>
          <p:nvPr/>
        </p:nvSpPr>
        <p:spPr>
          <a:xfrm>
            <a:off x="457200" y="384048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📐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188720" y="3749040"/>
            <a:ext cx="74980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分解为可验证的小步骤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188720" y="4114800"/>
            <a:ext cx="7498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每个 Region 的 seek 是否成功？编码是否正确？upper_bound 是否生效？把大问题拆成可逐个核验的小问题，避免排查时大海捞针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0D948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核心原则：相信但验证。外部建议 + 内部实测 = 最快的解题路径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2682</Words>
  <Application>WPS 演示</Application>
  <PresentationFormat>On-screen Show (16:9)</PresentationFormat>
  <Paragraphs>301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26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37" baseType="lpstr">
      <vt:lpstr>Arial</vt:lpstr>
      <vt:lpstr>宋体</vt:lpstr>
      <vt:lpstr>Wingdings</vt:lpstr>
      <vt:lpstr>Arial Black</vt:lpstr>
      <vt:lpstr>Arial Black</vt:lpstr>
      <vt:lpstr>Arial Black</vt:lpstr>
      <vt:lpstr>Arial</vt:lpstr>
      <vt:lpstr>Arial</vt:lpstr>
      <vt:lpstr>Consolas</vt:lpstr>
      <vt:lpstr>苹方-简</vt:lpstr>
      <vt:lpstr>Consolas</vt:lpstr>
      <vt:lpstr>Consolas</vt:lpstr>
      <vt:lpstr>Georgia</vt:lpstr>
      <vt:lpstr>Georgia</vt:lpstr>
      <vt:lpstr>Georgia</vt:lpstr>
      <vt:lpstr>宋体</vt:lpstr>
      <vt:lpstr>汉仪书宋二KW</vt:lpstr>
      <vt:lpstr>Calibri</vt:lpstr>
      <vt:lpstr>Helvetica Neue</vt:lpstr>
      <vt:lpstr>微软雅黑</vt:lpstr>
      <vt:lpstr>汉仪旗黑</vt:lpstr>
      <vt:lpstr>Arial Unicode MS</vt:lpstr>
      <vt:lpstr>等线</vt:lpstr>
      <vt:lpstr>汉仪中等线KW</vt:lpstr>
      <vt:lpstr>Apple Color Emoji</vt:lpstr>
      <vt:lpstr>Copperplate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PCR 断点续传开发历程</dc:title>
  <dc:creator>TiKV PCR Team</dc:creator>
  <dc:subject>PptxGenJS Presentation</dc:subject>
  <cp:lastModifiedBy>Wind_talker</cp:lastModifiedBy>
  <cp:revision>2</cp:revision>
  <dcterms:created xsi:type="dcterms:W3CDTF">2026-05-06T08:01:19Z</dcterms:created>
  <dcterms:modified xsi:type="dcterms:W3CDTF">2026-05-06T08:01:19Z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77264B5B6A15042D4FF5FA69C8667094_42</vt:lpwstr>
  </property>
  <property fmtid="{D5CDD505-2E9C-101B-9397-08002B2CF9AE}" pid="3" name="KSOProductBuildVer">
    <vt:lpwstr>2052-12.1.25869.25869</vt:lpwstr>
  </property>
</Properties>
</file>